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72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0096D6"/>
                </a:solidFill>
                <a:latin typeface="Calibri"/>
              </a:defRPr>
            </a:pPr>
            <a:r>
              <a:t>TSMMIS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Teacher-Student Multi-Modal Instance Similarity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CCCCCC"/>
                </a:solidFill>
                <a:latin typeface="Calibri"/>
              </a:defRPr>
            </a:pPr>
            <a:r>
              <a:t>Self-Supervised Few-Shot Steel Surface Defect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B4A0"/>
                </a:solidFill>
                <a:latin typeface="Calibri"/>
              </a:defRPr>
            </a:pPr>
            <a:r>
              <a:t>Implemented in MATLAB  |  NEU-CLS Dataset  |  ResNet-18 Backbone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463040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48132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21408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1396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Dataset – NEU-CLS Steel Surface Defects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79776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9806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System Architecture &amp;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38144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45643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Data Preprocessing &amp; Augmentation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96512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1148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Self-Supervised Pretraining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54880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77316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Loss Functions (Contrastive + MMIS)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413248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43153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Few-Shot Classification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48132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Prototype Self-Training Adaptation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121408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13969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Hyperparameters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779776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79806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438144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345643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t-SNE Feature Visualization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096512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1148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754880"/>
            <a:ext cx="45720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77316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8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E84D4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Steel manufacturing requires rigorous surface quality inspection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E84D4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Manual inspection is slow, subjective, and error-prone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E84D4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Deep learning needs thousands of labeled images per defect class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E84D4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Labeling steel defect images is expensive and requires domain experts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E84D4D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In real-world scenarios, only 1-4 labeled samples per class are 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303520" cy="47548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ECB71"/>
                </a:solidFill>
                <a:latin typeface="Calibri"/>
              </a:defRPr>
            </a:pPr>
            <a:r>
              <a:t>OUR SOLUTION: TSMMIS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96596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4ECB71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Self-supervised contrastive learning from unlabeled images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4ECB71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Teacher-Student framework for robust feature learning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4ECB71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Multi-Modal Instance Similarity (MMIS) regularization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4ECB71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Few-shot classification with only 1-4 labeled examples per class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4ECB71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Prototype-based classifier with self-training adaptation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4ECB71"/>
                </a:solidFill>
                <a:latin typeface="Calibri"/>
              </a:rPr>
              <a:t>▸ </a:t>
            </a:r>
            <a:r>
              <a:rPr sz="1500">
                <a:solidFill>
                  <a:srgbClr val="FFFFFF"/>
                </a:solidFill>
                <a:latin typeface="Calibri"/>
              </a:rPr>
              <a:t>Achieves up to 95.75% accuracy with just 4 labeled samples/class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Dataset – NEU-CLS Steel Surface Defects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Northeastern University Classification Dataset  |  6 defect classes  |  1,440 grayscale images  |  200x200 pixels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4915" y="1618488"/>
            <a:ext cx="1655064" cy="20116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4915" y="3246120"/>
            <a:ext cx="1655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E84D4D"/>
                </a:solidFill>
                <a:latin typeface="Calibri"/>
              </a:defRPr>
            </a:pPr>
            <a:r>
              <a:t>Crakling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2275" y="1618488"/>
            <a:ext cx="1655064" cy="20116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clusion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427" y="1691640"/>
            <a:ext cx="1508760" cy="1508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2275" y="3246120"/>
            <a:ext cx="1655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A500"/>
                </a:solidFill>
                <a:latin typeface="Calibri"/>
              </a:defRPr>
            </a:pPr>
            <a:r>
              <a:t>Inclusion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9635" y="1618488"/>
            <a:ext cx="1655064" cy="20116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tches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787" y="1691640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99635" y="3246120"/>
            <a:ext cx="1655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FD700"/>
                </a:solidFill>
                <a:latin typeface="Calibri"/>
              </a:defRPr>
            </a:pPr>
            <a:r>
              <a:t>Patches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6995" y="1618488"/>
            <a:ext cx="1655064" cy="20116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itted_surface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691640"/>
            <a:ext cx="1508760" cy="1508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36995" y="3246120"/>
            <a:ext cx="1655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B4A0"/>
                </a:solidFill>
                <a:latin typeface="Calibri"/>
              </a:defRPr>
            </a:pPr>
            <a:r>
              <a:t>Pitted Surface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4355" y="1618488"/>
            <a:ext cx="1655064" cy="20116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lled-in_scale_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507" y="1691640"/>
            <a:ext cx="1508760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74355" y="3246120"/>
            <a:ext cx="1655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096D6"/>
                </a:solidFill>
                <a:latin typeface="Calibri"/>
              </a:defRPr>
            </a:pPr>
            <a:r>
              <a:t>Rolled-in Scale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1715" y="1618488"/>
            <a:ext cx="1655064" cy="20116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cratches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4867" y="1691640"/>
            <a:ext cx="1508760" cy="1508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11715" y="3246120"/>
            <a:ext cx="16550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5CFF"/>
                </a:solidFill>
                <a:latin typeface="Calibri"/>
              </a:defRPr>
            </a:pPr>
            <a:r>
              <a:t>Scratches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645920" y="3931920"/>
          <a:ext cx="7315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Abbreviation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(60%)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(40%)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Crakling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cra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Inclusion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Patches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Pitted Surface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Rolled-in Scale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Scratches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144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864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576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1,440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System Architecture &amp;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9487" y="1554480"/>
            <a:ext cx="155448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78127" y="1737360"/>
            <a:ext cx="457200" cy="457200"/>
          </a:xfrm>
          <a:prstGeom prst="ellipse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0927" y="23317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96D6"/>
                </a:solidFill>
                <a:latin typeface="Calibri"/>
              </a:defRPr>
            </a:pPr>
            <a:r>
              <a:t>Data</a:t>
            </a:r>
            <a:br/>
            <a:r>
              <a:t>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0927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Load NEU-CLS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0927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60/40 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0927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Augmentation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3967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5135" y="1554480"/>
            <a:ext cx="155448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33775" y="1737360"/>
            <a:ext cx="457200" cy="457200"/>
          </a:xfrm>
          <a:prstGeom prst="ellipse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6575" y="23317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B4A0"/>
                </a:solidFill>
                <a:latin typeface="Calibri"/>
              </a:defRPr>
            </a:pPr>
            <a:r>
              <a:t>Model</a:t>
            </a:r>
            <a:br/>
            <a:r>
              <a:t>Init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6575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ResNet-18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6575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ImageNet pretrained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6575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512-dim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9615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0783" y="1554480"/>
            <a:ext cx="155448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89423" y="1737360"/>
            <a:ext cx="457200" cy="457200"/>
          </a:xfrm>
          <a:prstGeom prst="ellipse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2223" y="23317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A85CFF"/>
                </a:solidFill>
                <a:latin typeface="Calibri"/>
              </a:defRPr>
            </a:pPr>
            <a:r>
              <a:t>Self-Supervised</a:t>
            </a:r>
            <a:br/>
            <a:r>
              <a:t>Pretraining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2223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PCA projection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2223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K-means clustering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2223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300-epoch refinement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95263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6431" y="1554480"/>
            <a:ext cx="155448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45071" y="1737360"/>
            <a:ext cx="457200" cy="45720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23317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A500"/>
                </a:solidFill>
                <a:latin typeface="Calibri"/>
              </a:defRPr>
            </a:pPr>
            <a:r>
              <a:t>Few-Shot</a:t>
            </a:r>
            <a:br/>
            <a:r>
              <a:t>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N=1,2,3,4 shots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100 random trials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Prototype classifier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0911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2079" y="1554480"/>
            <a:ext cx="155448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00719" y="1737360"/>
            <a:ext cx="457200" cy="45720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3519" y="23317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E84D4D"/>
                </a:solidFill>
                <a:latin typeface="Calibri"/>
              </a:defRPr>
            </a:pPr>
            <a:r>
              <a:t>Prototype</a:t>
            </a:r>
            <a:br/>
            <a:r>
              <a:t>Adaptation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3519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Self-training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3519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Confidence margin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3519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Unlabeled fusion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6559" y="2697480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07727" y="1554480"/>
            <a:ext cx="155448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56367" y="1737360"/>
            <a:ext cx="457200" cy="457200"/>
          </a:xfrm>
          <a:prstGeom prst="ellipse">
            <a:avLst/>
          </a:prstGeom>
          <a:solidFill>
            <a:srgbClr val="4EC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99167" y="23317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4ECB71"/>
                </a:solidFill>
                <a:latin typeface="Calibri"/>
              </a:defRPr>
            </a:pPr>
            <a:r>
              <a:t>Results &amp;</a:t>
            </a:r>
            <a:br/>
            <a:r>
              <a:t>Visualization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99167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Accuracy table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99167" y="3246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t-SNE embedding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99167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Scatter plot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Pipeline is orchestrated by main_TSMMIS.m (683 lines) which calls modular components:</a:t>
            </a:r>
            <a:br/>
            <a:r>
              <a:t>DataLoader.m | ResNet18Encoder.m | ContrastiveLoss.m | MMISLoss.m | TSMMISTrainer.m | TSMMISEvaluator.m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Preprocessing &amp; Augmentation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03520" cy="47548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t>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Images resized from 200x200 to 224x224 pixels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Per-class folder scanning (JPG/PNG/BMP supported)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Random 60/40 train-test split per class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From 144 train images: 4 reserved few-shot + 140 unlabeled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Full training pool used for N-shot sampling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303520" cy="47548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508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B4A0"/>
                </a:solidFill>
                <a:latin typeface="Calibri"/>
              </a:defRPr>
            </a:pPr>
            <a:r>
              <a:t>DATA AUGMENTATION (Multi-Crop)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K = 5 multi-crop views per image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Crop ratio range: [0.1, 1.0]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Random horizontal &amp; vertical flipping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Color jitter: brightness +/-20%, contrast +/-20%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Random grayscale conversion (20% probability)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B4A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Gaussian blur (30% probability)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D700"/>
                </a:solidFill>
                <a:latin typeface="Calibri"/>
              </a:defRPr>
            </a:pPr>
            <a:r>
              <a:t>Raw Image (200x200) --&gt; Resize (224x224) --&gt; Multi-Crop (K=5) --&gt; Augment (flip, jitter, blur) --&gt; Feature 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Implemented in: utils/DataLoader.m (284 lines)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Self-Supervised Pretraining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00887" y="1463040"/>
            <a:ext cx="2011680" cy="23774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887" y="1600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887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96D6"/>
                </a:solidFill>
                <a:latin typeface="Calibri"/>
              </a:defRPr>
            </a:pPr>
            <a:r>
              <a:t>Feature Extraction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207" y="2286000"/>
            <a:ext cx="146304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047" y="24688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Extract 512-dim features from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27614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all unlabeled images using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0540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ResNet-18 encoder (batch=32)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2567" y="2514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5447" y="1463040"/>
            <a:ext cx="2011680" cy="23774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95447" y="1600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5447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0B4A0"/>
                </a:solidFill>
                <a:latin typeface="Calibri"/>
              </a:defRPr>
            </a:pPr>
            <a:r>
              <a:t>L2 Normalization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69767" y="2286000"/>
            <a:ext cx="1463040" cy="2540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32607" y="24688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Row-wise L2 normalization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32607" y="27614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of all feature vectors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7127" y="2514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0007" y="1463040"/>
            <a:ext cx="2011680" cy="23774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90007" y="1600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0007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A85CFF"/>
                </a:solidFill>
                <a:latin typeface="Calibri"/>
              </a:defRPr>
            </a:pPr>
            <a:r>
              <a:t>PCA Projection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64327" y="2286000"/>
            <a:ext cx="1463040" cy="25400"/>
          </a:xfrm>
          <a:prstGeom prst="rect">
            <a:avLst/>
          </a:prstGeom>
          <a:solidFill>
            <a:srgbClr val="A8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27167" y="24688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Project to 256 dimensions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7167" y="27614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with centering and whitening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7167" y="30540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then L2-normalize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2514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84567" y="1463040"/>
            <a:ext cx="2011680" cy="23774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84567" y="1600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4567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FA500"/>
                </a:solidFill>
                <a:latin typeface="Calibri"/>
              </a:defRPr>
            </a:pPr>
            <a:r>
              <a:t>K-Means Init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58887" y="2286000"/>
            <a:ext cx="1463040" cy="2540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1727" y="24688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Initialize 6 cluster centers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1727" y="27614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with 5 replicates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1727" y="30540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for robust seeding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6247" y="2514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96D6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79127" y="1463040"/>
            <a:ext cx="2011680" cy="23774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79127" y="16002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79127" y="1874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E84D4D"/>
                </a:solidFill>
                <a:latin typeface="Calibri"/>
              </a:defRPr>
            </a:pPr>
            <a:r>
              <a:t>Prototype Refinement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53447" y="2286000"/>
            <a:ext cx="1463040" cy="25400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16287" y="2468880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300 epochs: cosine similarity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16287" y="276148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assignment + mean re-computation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16287" y="3054096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Track loss = mean(1 - maxSim)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28800" y="4160520"/>
            <a:ext cx="8503920" cy="10058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03120" y="425196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D700"/>
                </a:solidFill>
                <a:latin typeface="Calibri"/>
              </a:defRPr>
            </a:pPr>
            <a:r>
              <a:t>OUTPUT: Learned Transform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3120" y="461772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{ mu (mean), coeff (PCA matrix), prototypeCenters (6 class prototypes), explainedVariance }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Pretraining uses no labels -- learns structure from unlabeled data alone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Loss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96D6"/>
                </a:solidFill>
                <a:latin typeface="Calibri"/>
              </a:defRPr>
            </a:pPr>
            <a:r>
              <a:t>Contrastive Loss  L_t&amp;s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Teacher-Student Cross-View Contrastive Loss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286000"/>
            <a:ext cx="475488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68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sim_ps_yk = (P_s . Y_k^T) / tau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sim_pk_ys = (P_k . Y_s^T) / tau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08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097280" y="34290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L_t&amp;s = [ CE(sim_ps_yk, labels)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49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        + CE(sim_pk_ys, labels) ] / (2K)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96D6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P_s = predictor output from main view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96D6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Y_k = encoder outputs from K multi-crop views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96D6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Y_s = main view features (detached for gradient)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96D6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tau = 0.1 (temperature parameter)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96D6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Cross-entropy with softmax over similarity 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B4A0"/>
                </a:solidFill>
                <a:latin typeface="Calibri"/>
              </a:defRPr>
            </a:pPr>
            <a:r>
              <a:t>MMIS Regularization  L_MMIS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202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Multi-Modal Instance Similarity Loss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2286000"/>
            <a:ext cx="4754880" cy="2540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4688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M_k = norm(Y_k) . norm(Y_{k+1})^T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788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pseudo_labels = argmax(M_k, dim=2)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108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ce_k = CrossEntropy(M_k, pseudo_labels)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4290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L_MMIS = mean(-ce_k) over K-1 pairs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49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FFD700"/>
                </a:solidFill>
                <a:latin typeface="Consolas"/>
              </a:defRPr>
            </a:pPr>
            <a:r>
              <a:t>L_total = lambda * epoch * L_MMIS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297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B4A0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Adjacent multi-crop pair similarity matrices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B4A0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Pseudo-labels via per-row argmax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B4A0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Negative cross-entropy encourages diversity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B4A0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lambda = 0.001 (MMIS weight)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00B4A0"/>
                </a:solidFill>
                <a:latin typeface="Calibri"/>
              </a:rPr>
              <a:t>▸ </a:t>
            </a:r>
            <a:r>
              <a:rPr sz="1200">
                <a:solidFill>
                  <a:srgbClr val="FFFFFF"/>
                </a:solidFill>
                <a:latin typeface="Calibri"/>
              </a:rPr>
              <a:t>Epoch-scaled: grows importance during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Implemented in: training/ContrastiveLoss.m (99 lines)  |  training/MMISLoss.m (141 lines)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Few-Shot Classification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96D6"/>
                </a:solidFill>
                <a:latin typeface="Calibri"/>
              </a:defRPr>
            </a:pPr>
            <a:r>
              <a:t>Prototype Classifier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965960"/>
            <a:ext cx="32004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prototype_c = L2_norm( mean(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  support_features where label = c )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7977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97280" y="3072384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proto_sim = features . prototypes^T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6499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support_sim = max( features 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5760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  support_features_c^T )  per class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5020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424281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combined = 0.75 * proto_sim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35424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         + 0.25 * support_sim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2803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D700"/>
                </a:solidFill>
                <a:latin typeface="Consolas"/>
              </a:defRPr>
            </a:pPr>
            <a:r>
              <a:t>prediction = argmax( combined 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B4A0"/>
                </a:solidFill>
                <a:latin typeface="Calibri"/>
              </a:defRPr>
            </a:pPr>
            <a:r>
              <a:t>Evaluation Protocol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965960"/>
            <a:ext cx="3200400" cy="2540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Label counts tested: N = 1, 2, 3, 4 per class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100 random trials per label-count setting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Each trial: random N-shot sampling from train pool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Compute per-class prototype from support features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Adapt prototypes with unlabeled data (self-training)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Predict on test set using combined similarity scoring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Record accuracy; report mean +/- std across 100 trials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00B4A0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Blend ratio: 75% prototype + 25% nearest-instance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Prototype Self-Training Adaptation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Leveraging unlabeled data to refine class prototypes through confident pseudo-label predictions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737360"/>
            <a:ext cx="9418320" cy="38404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D700"/>
                </a:solidFill>
                <a:latin typeface="Calibri"/>
              </a:defRPr>
            </a:pPr>
            <a:r>
              <a:t>ALGORITHM: Self-Training Adaptation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286000"/>
            <a:ext cx="868680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468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46888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iter = 1 to 2: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8892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Compute similarity = unlabeled_features . prototypes^T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1089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0896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Sort similarity scores: get top-1 and top-2 per sample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429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42900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Calculate confidence margin = top1_score - top2_score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4904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IF margin &gt;= 0.08 (high confidence):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069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06908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    pseudo_label = argmax(similarity)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38912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Update prototype for each class c: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 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70916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  <a:r>
              <a:t>    prototype_c = L2_norm( 0.70 * prototype_c + 0.30 * mean(confident_unlabeled_c) 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096D6"/>
                </a:solidFill>
                <a:latin typeface="Consolas"/>
              </a:defRPr>
            </a:pPr>
            <a:r>
              <a:t>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7589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onsolas"/>
              </a:defRPr>
            </a:pPr>
          </a:p>
        </p:txBody>
      </p:sp>
      <p:sp>
        <p:nvSpPr>
          <p:cNvPr id="28" name="Rounded Rectangle 27"/>
          <p:cNvSpPr/>
          <p:nvPr/>
        </p:nvSpPr>
        <p:spPr>
          <a:xfrm>
            <a:off x="1371600" y="5760720"/>
            <a:ext cx="9418320" cy="6400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37360" y="58521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B4A0"/>
                </a:solidFill>
                <a:latin typeface="Calibri"/>
              </a:defRPr>
            </a:pPr>
            <a:r>
              <a:t>Key Parameters:  Iterations = 2  |  Confidence Margin Threshold = 0.08  |  Adaptation Blend = 0.70/0.30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Hyperparameters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737360" y="1188720"/>
          <a:ext cx="8686800" cy="7296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Image Size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224 x 224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resolution after resize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 (Multi-Crop Views)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Number of augmented views per image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Crop Ratio Range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[0.1, 1.0]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Min/max crop scale factor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Train/Test Split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60% / 40%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Per-class data division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Pretrain Epochs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300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Prototype refinement iterations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 batch size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0.003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SGD learning rate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SGD Momentum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Optimizer momentum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Weight Decay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1e-4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L2 regularization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Lambda (MMIS)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MMIS loss weight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Tau (Temperature)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0.1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Contrastive loss temperature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PCA Dimension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Projected feature dimension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Few-Shot Runs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trials per setting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 Counts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[1, 2, 3, 4]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Shots per class tested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Self-Train Iterations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Adaptation loop count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Confidence Margin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0.08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Pseudo-label threshold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Proto/Support Blend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0.75 / 0.25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Combined similarity weights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Adaptation Blend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0.70 / 0.30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Old/new prototype weights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Few-Shot Classification Accuracy on NEU-CLS Test Set (576 images, 100 random trials per setting)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05840" y="1737360"/>
          <a:ext cx="10149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2011680"/>
                <a:gridCol w="164592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Setting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Labels/Class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Accuracy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 Dev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Interpretation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1-shot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88.13%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4.68%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Strong baseline from 1 example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2-shot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93.11%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2.64%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+4.98% gain; variance halved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3-shot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94.86%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1.85%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Approaching saturation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4-shot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95.75%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1.51%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Near-supervised performance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112367" y="4023360"/>
            <a:ext cx="2286000" cy="14630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2367" y="4206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96D6"/>
                </a:solidFill>
                <a:latin typeface="Calibri"/>
              </a:defRPr>
            </a:pPr>
            <a:r>
              <a:t>88.13%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2367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1-shot 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72687" y="4023360"/>
            <a:ext cx="2286000" cy="14630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4ECB71"/>
                </a:solidFill>
                <a:latin typeface="Calibri"/>
              </a:defRPr>
            </a:pPr>
            <a:r>
              <a:t>95.75%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4-shot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4023360"/>
            <a:ext cx="2286000" cy="14630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3007" y="4206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D700"/>
                </a:solidFill>
                <a:latin typeface="Calibri"/>
              </a:defRPr>
            </a:pPr>
            <a:r>
              <a:t>+7.62%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Improvement 1-&gt;4 shot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93327" y="4023360"/>
            <a:ext cx="2286000" cy="146304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93327" y="4206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0B4A0"/>
                </a:solidFill>
                <a:latin typeface="Calibri"/>
              </a:defRPr>
            </a:pPr>
            <a:r>
              <a:t>1.51%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93327" y="4846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Lowest std dev (4-shot)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5760720"/>
            <a:ext cx="9418320" cy="64008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580644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Key Insight: Accuracy improves and variance decreases as more labeled support samples are provided per class. Self-supervised pretraining enables strong generalization even from a single labeled example.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t-SNE Feature Visualization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2D t-SNE projection of learned test features showing class cluster separation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9687" y="1508760"/>
            <a:ext cx="71323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sne_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1645920"/>
            <a:ext cx="6858000" cy="4754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Parameters: perplexity=30  |  Standardized features  |  Fallback: PCA if t-SNE unavailable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188720"/>
          <a:ext cx="10515600" cy="5376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31520"/>
                <a:gridCol w="685800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File / Folder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Lines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0070A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main_TSMMIS.m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683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End-to-end orchestrator: config, data, train, eval, visualize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utils/DataLoader.m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284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loading, train/test split, multicrop, augmentation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utils/TSMMISConfig.m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Configuration value-object with all hyperparameters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models/ResNet18Encoder.m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221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ResNet-18 architecture: conv + 4 residual stages + GAP + FC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models/pretrained_encoder.mat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Saved pretrained model weights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training/ContrastiveLoss.m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99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L_t&amp;s: cross-view contrastive loss implementation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training/MMISLoss.m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141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L_MMIS: multi-modal instance similarity regularization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training/TSMMISTrainer.m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262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OOP training loop with initialize/train/step methods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training/trainTSMMIS_GPU.m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181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GPU-accelerated training with batch processing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evaluation/FineTuner.m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297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Few-shot fine-tuning (SVM linear eval + full fine-tune)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evaluation/TSMMISEvaluator.m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285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Evaluator class with t-SNE visualization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evaluation/results/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Output: evaluation_results.mat, tsne_embedding.mat, tsne_visualization.png</a:t>
                      </a:r>
                    </a:p>
                  </a:txBody>
                  <a:tcPr anchor="ctr">
                    <a:solidFill>
                      <a:srgbClr val="282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data/NEU-CLS/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---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 class folders x 240 images = 1,440 JPG files</a:t>
                      </a:r>
                    </a:p>
                  </a:txBody>
                  <a:tcPr anchor="ctr">
                    <a:solidFill>
                      <a:srgbClr val="1E1E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502920" cy="50292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4ECB71"/>
                </a:solidFill>
                <a:latin typeface="Calibri"/>
              </a:defRPr>
            </a:pPr>
            <a:r>
              <a:t>KEY ACHIEVEMENTS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B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95.75% accuracy with only 4 labeled samples per class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B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88.13% accuracy with a single labeled sample per class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B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Self-supervised learning eliminates need for large labeled datasets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4ECB71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Prototype self-training leverages unlabeled data effectively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486400" cy="256032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508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t>TECHNICAL CONTRIBUTIONS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96D6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Teacher-Student contrastive learning framework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96D6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Multi-Modal Instance Similarity (MMIS) regularization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96D6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Combined prototype + instance similarity scoring (75/25)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0096D6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Confidence-based prototype adaptation from unlabeled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06240"/>
            <a:ext cx="11247120" cy="2286000"/>
          </a:xfrm>
          <a:prstGeom prst="round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D700"/>
                </a:solidFill>
                <a:latin typeface="Calibri"/>
              </a:defRPr>
            </a:pPr>
            <a:r>
              <a:t>PRACTICAL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D70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Enables automated steel surface defect detection in manufacturing environments with minimal labeling effort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D70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Reduces dependency on domain experts for annotation -- only 1-4 labeled examples needed per defect type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D70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Modular MATLAB implementation allows easy extension to new defect types or other industrial inspection tasks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FFD700"/>
                </a:solidFill>
                <a:latin typeface="Calibri"/>
              </a:rPr>
              <a:t>▸ </a:t>
            </a:r>
            <a:r>
              <a:rPr sz="1400">
                <a:solidFill>
                  <a:srgbClr val="FFFFFF"/>
                </a:solidFill>
                <a:latin typeface="Calibri"/>
              </a:rPr>
              <a:t>Robust evaluation protocol (100 trials) ensures reliable and reproducible performance estimates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4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0096D6"/>
                </a:solidFill>
                <a:latin typeface="Calibri"/>
              </a:defRPr>
            </a:pPr>
            <a:r>
              <a:t>TSMMIS: Self-Supervised Few-Shot Steel Surface Defect Recognition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9319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CCCCCC"/>
                </a:solidFill>
                <a:latin typeface="Calibr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